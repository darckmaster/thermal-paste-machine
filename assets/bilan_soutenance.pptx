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7999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Le processus métier couvert par le logiciel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558000"/>
            <a:ext cx="100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DD5F0"/>
                </a:solidFill>
                <a:latin typeface="Calibri"/>
              </a:rPr>
              <a:t>On prépare une référence UNE fois — on la produit ensuite autant de fois qu'on veut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7999"/>
            <a:ext cx="12188952" cy="25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170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72C4"/>
                </a:solidFill>
                <a:latin typeface="Calibri"/>
              </a:rPr>
              <a:t>PRÉPARATION  ·  une seule fois par référence produit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1440000"/>
            <a:ext cx="2484000" cy="11160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630000" y="1519200"/>
            <a:ext cx="306000" cy="306000"/>
          </a:xfrm>
          <a:prstGeom prst="ellipse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2000" y="1504800"/>
            <a:ext cx="1980001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472C4"/>
                </a:solidFill>
                <a:latin typeface="Calibri"/>
              </a:rPr>
              <a:t>Nommer le produit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" y="1890000"/>
            <a:ext cx="2268000" cy="612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L'opérateur saisit la référence, ou la reprend dans la liste des produits déjà connus.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078000" y="1836000"/>
            <a:ext cx="270000" cy="324000"/>
          </a:xfrm>
          <a:prstGeom prst="rightArrow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02000" y="1440000"/>
            <a:ext cx="2484000" cy="11160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3492000" y="1519200"/>
            <a:ext cx="306000" cy="306000"/>
          </a:xfrm>
          <a:prstGeom prst="ellipse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34000" y="1504800"/>
            <a:ext cx="1980001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472C4"/>
                </a:solidFill>
                <a:latin typeface="Calibri"/>
              </a:rPr>
              <a:t>Photographier le plateau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10000" y="1890000"/>
            <a:ext cx="2268000" cy="612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Le logiciel reconnaît seul les emplacements et signale ceux qui sont mal montés.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40000" y="1836000"/>
            <a:ext cx="270000" cy="324000"/>
          </a:xfrm>
          <a:prstGeom prst="rightArrow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4000" y="1440000"/>
            <a:ext cx="2484000" cy="11160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354000" y="1519200"/>
            <a:ext cx="306000" cy="306000"/>
          </a:xfrm>
          <a:prstGeom prst="ellipse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6000" y="1504800"/>
            <a:ext cx="1980001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472C4"/>
                </a:solidFill>
                <a:latin typeface="Calibri"/>
              </a:rPr>
              <a:t>Tracer les cordons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2000" y="1890000"/>
            <a:ext cx="2268000" cy="612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Au doigt, sur UN seul emplacement agrandi à l'écran.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802000" y="1836000"/>
            <a:ext cx="270000" cy="324000"/>
          </a:xfrm>
          <a:prstGeom prst="rightArrow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26000" y="1440000"/>
            <a:ext cx="2484000" cy="11160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9216000" y="1519200"/>
            <a:ext cx="306000" cy="306000"/>
          </a:xfrm>
          <a:prstGeom prst="ellipse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8000" y="1504800"/>
            <a:ext cx="1980001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472C4"/>
                </a:solidFill>
                <a:latin typeface="Calibri"/>
              </a:rPr>
              <a:t>Enregistrer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4000" y="1890000"/>
            <a:ext cx="2268000" cy="612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Le tracé est reporté automatiquement sur tous les autres emplacements.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5832000" y="2610000"/>
            <a:ext cx="324000" cy="270000"/>
          </a:xfrm>
          <a:prstGeom prst="downArrow">
            <a:avLst/>
          </a:prstGeom>
          <a:solidFill>
            <a:srgbClr val="C55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520000" y="2898000"/>
            <a:ext cx="7020000" cy="486000"/>
          </a:xfrm>
          <a:prstGeom prst="roundRect">
            <a:avLst/>
          </a:prstGeom>
          <a:solidFill>
            <a:srgbClr val="C55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FICHIER PLATEAU  —  produit, emplacements, cordons, réglages   ·   rejouable sans rien retracer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5832000" y="3456000"/>
            <a:ext cx="324000" cy="270000"/>
          </a:xfrm>
          <a:prstGeom prst="downArrow">
            <a:avLst/>
          </a:prstGeom>
          <a:solidFill>
            <a:srgbClr val="3786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0000" y="3798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78610"/>
                </a:solidFill>
                <a:latin typeface="Calibri"/>
              </a:rPr>
              <a:t>PRODUCTION  ·  à chaque plateau, en série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0000" y="4068000"/>
            <a:ext cx="1980000" cy="11160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3786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630000" y="4147200"/>
            <a:ext cx="306000" cy="306000"/>
          </a:xfrm>
          <a:prstGeom prst="ellipse">
            <a:avLst/>
          </a:prstGeom>
          <a:solidFill>
            <a:srgbClr val="3786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000" y="4132800"/>
            <a:ext cx="1476001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8610"/>
                </a:solidFill>
                <a:latin typeface="Calibri"/>
              </a:rPr>
              <a:t>Lancer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8000" y="4518000"/>
            <a:ext cx="1764000" cy="612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Un bouton. La machine se met d'aplomb et en position d'observation.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2556000" y="4464000"/>
            <a:ext cx="216000" cy="324000"/>
          </a:xfrm>
          <a:prstGeom prst="rightArrow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808000" y="4068000"/>
            <a:ext cx="1980000" cy="11160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3786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2898000" y="4147200"/>
            <a:ext cx="306000" cy="306000"/>
          </a:xfrm>
          <a:prstGeom prst="ellipse">
            <a:avLst/>
          </a:prstGeom>
          <a:solidFill>
            <a:srgbClr val="3786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40000" y="4132800"/>
            <a:ext cx="1476001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8610"/>
                </a:solidFill>
                <a:latin typeface="Calibri"/>
              </a:rPr>
              <a:t>Choisir le plateau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16000" y="4518000"/>
            <a:ext cx="1764000" cy="612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Dans la liste des références déjà préparées.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4824000" y="4464000"/>
            <a:ext cx="216000" cy="324000"/>
          </a:xfrm>
          <a:prstGeom prst="rightArrow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076000" y="4068000"/>
            <a:ext cx="1980000" cy="11160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3786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5166000" y="4147200"/>
            <a:ext cx="306000" cy="306000"/>
          </a:xfrm>
          <a:prstGeom prst="ellipse">
            <a:avLst/>
          </a:prstGeom>
          <a:solidFill>
            <a:srgbClr val="3786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08000" y="4132800"/>
            <a:ext cx="1476001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8610"/>
                </a:solidFill>
                <a:latin typeface="Calibri"/>
              </a:rPr>
              <a:t>Désigner les pièces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84000" y="4518000"/>
            <a:ext cx="1764000" cy="612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Le logiciel montre les emplacements ; l'opérateur touche ceux qui sont garnis.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7092000" y="4464000"/>
            <a:ext cx="216000" cy="324000"/>
          </a:xfrm>
          <a:prstGeom prst="rightArrow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344000" y="4068000"/>
            <a:ext cx="1980000" cy="11160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3786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7434000" y="4147200"/>
            <a:ext cx="306000" cy="306000"/>
          </a:xfrm>
          <a:prstGeom prst="ellipse">
            <a:avLst/>
          </a:prstGeom>
          <a:solidFill>
            <a:srgbClr val="3786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6000" y="4132800"/>
            <a:ext cx="1476001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8610"/>
                </a:solidFill>
                <a:latin typeface="Calibri"/>
              </a:rPr>
              <a:t>Déposer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52000" y="4518000"/>
            <a:ext cx="1764000" cy="612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Dépose automatique, avec avancement, pause et arrêt d'urgence.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9360000" y="4464000"/>
            <a:ext cx="216000" cy="324000"/>
          </a:xfrm>
          <a:prstGeom prst="rightArrow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612000" y="4068000"/>
            <a:ext cx="1980000" cy="11160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3786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Oval 50"/>
          <p:cNvSpPr/>
          <p:nvPr/>
        </p:nvSpPr>
        <p:spPr>
          <a:xfrm>
            <a:off x="9702000" y="4147200"/>
            <a:ext cx="306000" cy="306000"/>
          </a:xfrm>
          <a:prstGeom prst="ellipse">
            <a:avLst/>
          </a:prstGeom>
          <a:solidFill>
            <a:srgbClr val="3786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44000" y="4132800"/>
            <a:ext cx="1476001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8610"/>
                </a:solidFill>
                <a:latin typeface="Calibri"/>
              </a:rPr>
              <a:t>Rapport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20000" y="4518000"/>
            <a:ext cx="1764000" cy="612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Photo de fin et PDF de traçabilité : ce qui a été déposé, et où.</a:t>
            </a:r>
          </a:p>
        </p:txBody>
      </p:sp>
      <p:sp>
        <p:nvSpPr>
          <p:cNvPr id="54" name="Left Arrow 53"/>
          <p:cNvSpPr/>
          <p:nvPr/>
        </p:nvSpPr>
        <p:spPr>
          <a:xfrm>
            <a:off x="540000" y="5346000"/>
            <a:ext cx="11052000" cy="413999"/>
          </a:xfrm>
          <a:prstGeom prst="leftArrow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378610"/>
                </a:solidFill>
                <a:latin typeface="Calibri"/>
              </a:rPr>
              <a:t>PLATEAU SUIVANT  —  on repart à l'étape 1, sans rien reconfigurer ni retracer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32000" y="6083999"/>
            <a:ext cx="11160000" cy="540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32000" y="6083999"/>
            <a:ext cx="63500" cy="540000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76000" y="6173999"/>
            <a:ext cx="1087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Le tracé est fait une fois pour une référence ; ensuite, produire un plateau ne demande que trois gestes au doigt.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7999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Architecture logicielle — les 20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558000"/>
            <a:ext cx="100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DD5F0"/>
                </a:solidFill>
                <a:latin typeface="Calibri"/>
              </a:rPr>
              <a:t>Une responsabilité par module : le cœur métier ne connaît ni l'écran ni la machine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7999"/>
            <a:ext cx="12188952" cy="25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1188000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472C4"/>
                </a:solidFill>
                <a:latin typeface="Calibri"/>
              </a:rPr>
              <a:t>CŒUR MÉTIER  ·  modules/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422000"/>
            <a:ext cx="3636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2000" y="1422000"/>
            <a:ext cx="72000" cy="45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3200" y="1447200"/>
            <a:ext cx="25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config.py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76000" y="1458000"/>
            <a:ext cx="64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06060"/>
                </a:solidFill>
                <a:latin typeface="Calibri"/>
              </a:rPr>
              <a:t>254 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3200" y="1638000"/>
            <a:ext cx="340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Tous les paramètres, dont ceux propres à chaque machine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1922400"/>
            <a:ext cx="3636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000" y="1922400"/>
            <a:ext cx="72000" cy="45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3200" y="1947600"/>
            <a:ext cx="25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472C4"/>
                </a:solidFill>
                <a:latin typeface="Calibri"/>
              </a:rPr>
              <a:t>camera.py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76000" y="1958400"/>
            <a:ext cx="64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06060"/>
                </a:solidFill>
                <a:latin typeface="Calibri"/>
              </a:rPr>
              <a:t>181 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3200" y="2138400"/>
            <a:ext cx="340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Capture USB, choix du périphérique, image fraîche garantie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000" y="2422800"/>
            <a:ext cx="3636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2000" y="2422800"/>
            <a:ext cx="72000" cy="45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3200" y="2448000"/>
            <a:ext cx="25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472C4"/>
                </a:solidFill>
                <a:latin typeface="Calibri"/>
              </a:rPr>
              <a:t>vision.py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76000" y="2458800"/>
            <a:ext cx="64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06060"/>
                </a:solidFill>
                <a:latin typeface="Calibri"/>
              </a:rPr>
              <a:t>1225 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3200" y="2638800"/>
            <a:ext cx="340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ArUco, repère du plateau, reconnaissance des emplacements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000" y="2923200"/>
            <a:ext cx="3636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2000" y="2923200"/>
            <a:ext cx="72000" cy="45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3200" y="2948400"/>
            <a:ext cx="25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472C4"/>
                </a:solidFill>
                <a:latin typeface="Calibri"/>
              </a:rPr>
              <a:t>calibration.py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6000" y="2959200"/>
            <a:ext cx="64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06060"/>
                </a:solidFill>
                <a:latin typeface="Calibri"/>
              </a:rPr>
              <a:t>398 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3200" y="3139200"/>
            <a:ext cx="340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Correction de la distorsion de l'objectif (mire ChArUco)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2000" y="3423600"/>
            <a:ext cx="3636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2000" y="3423600"/>
            <a:ext cx="72000" cy="45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200" y="3448800"/>
            <a:ext cx="25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472C4"/>
                </a:solidFill>
                <a:latin typeface="Calibri"/>
              </a:rPr>
              <a:t>machine.py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76000" y="3459600"/>
            <a:ext cx="64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06060"/>
                </a:solidFill>
                <a:latin typeface="Calibri"/>
              </a:rPr>
              <a:t>293 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200" y="3639600"/>
            <a:ext cx="340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Dialogue G-code avec Marlin, par liaison série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2000" y="3924000"/>
            <a:ext cx="3636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2000" y="3924000"/>
            <a:ext cx="72000" cy="45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3200" y="3949200"/>
            <a:ext cx="25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472C4"/>
                </a:solidFill>
                <a:latin typeface="Calibri"/>
              </a:rPr>
              <a:t>path_planner.py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76000" y="3960000"/>
            <a:ext cx="64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06060"/>
                </a:solidFill>
                <a:latin typeface="Calibri"/>
              </a:rPr>
              <a:t>606 l.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3200" y="4140000"/>
            <a:ext cx="340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Trajectoire : ordre des zones, cordons, contrôle de course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2000" y="4424400"/>
            <a:ext cx="3636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32000" y="4424400"/>
            <a:ext cx="72000" cy="45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3200" y="4449600"/>
            <a:ext cx="25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472C4"/>
                </a:solidFill>
                <a:latin typeface="Calibri"/>
              </a:rPr>
              <a:t>preparation.py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76000" y="4460400"/>
            <a:ext cx="64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06060"/>
                </a:solidFill>
                <a:latin typeface="Calibri"/>
              </a:rPr>
              <a:t>767 l.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3200" y="4640400"/>
            <a:ext cx="340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Modèle d'un plateau et son enregistrement (JSON versionné)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2000" y="4924800"/>
            <a:ext cx="3636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2000" y="4924800"/>
            <a:ext cx="72000" cy="45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3200" y="4950000"/>
            <a:ext cx="25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472C4"/>
                </a:solidFill>
                <a:latin typeface="Calibri"/>
              </a:rPr>
              <a:t>reporter.py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76000" y="4960800"/>
            <a:ext cx="64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06060"/>
                </a:solidFill>
                <a:latin typeface="Calibri"/>
              </a:rPr>
              <a:t>383 l.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3200" y="5140800"/>
            <a:ext cx="340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Rapport PDF de traçabilité (fpdf2)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66000" y="1188000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8610"/>
                </a:solidFill>
                <a:latin typeface="Calibri"/>
              </a:rPr>
              <a:t>INTERFACE ET PILOTAGE  ·  gui/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66000" y="1422000"/>
            <a:ext cx="3636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266000" y="1422000"/>
            <a:ext cx="72000" cy="45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17200" y="1447200"/>
            <a:ext cx="25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main.py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10000" y="1458000"/>
            <a:ext cx="64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06060"/>
                </a:solidFill>
                <a:latin typeface="Calibri"/>
              </a:rPr>
              <a:t>36 l.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17200" y="1638000"/>
            <a:ext cx="340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Point d'entrée de l'application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66000" y="1922400"/>
            <a:ext cx="3636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66000" y="1922400"/>
            <a:ext cx="72000" cy="450000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417200" y="1947600"/>
            <a:ext cx="25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8610"/>
                </a:solidFill>
                <a:latin typeface="Calibri"/>
              </a:rPr>
              <a:t>app.py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10000" y="1958400"/>
            <a:ext cx="64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06060"/>
                </a:solidFill>
                <a:latin typeface="Calibri"/>
              </a:rPr>
              <a:t>481 l.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417200" y="2138400"/>
            <a:ext cx="340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Fenêtre principale et navigation entre les écrans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66000" y="2422800"/>
            <a:ext cx="3636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266000" y="2422800"/>
            <a:ext cx="72000" cy="450000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417200" y="2448000"/>
            <a:ext cx="25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8610"/>
                </a:solidFill>
                <a:latin typeface="Calibri"/>
              </a:rPr>
              <a:t>workers.py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10000" y="2458800"/>
            <a:ext cx="64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06060"/>
                </a:solidFill>
                <a:latin typeface="Calibri"/>
              </a:rPr>
              <a:t>127 l.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417200" y="2638800"/>
            <a:ext cx="340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Mise en position machine, hors du fil d'affichage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66000" y="2923200"/>
            <a:ext cx="3636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266000" y="2923200"/>
            <a:ext cx="72000" cy="450000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417200" y="2948400"/>
            <a:ext cx="25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8610"/>
                </a:solidFill>
                <a:latin typeface="Calibri"/>
              </a:rPr>
              <a:t>dialogs.py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10000" y="2959200"/>
            <a:ext cx="64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06060"/>
                </a:solidFill>
                <a:latin typeface="Calibri"/>
              </a:rPr>
              <a:t>673 l.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17200" y="3139200"/>
            <a:ext cx="340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Boîtes de dialogue partagées (produit, paramètres, dépose)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266000" y="3423600"/>
            <a:ext cx="3636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266000" y="3423600"/>
            <a:ext cx="72000" cy="450000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417200" y="3448800"/>
            <a:ext cx="25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8610"/>
                </a:solidFill>
                <a:latin typeface="Calibri"/>
              </a:rPr>
              <a:t>screen_capture.py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110000" y="3459600"/>
            <a:ext cx="64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06060"/>
                </a:solidFill>
                <a:latin typeface="Calibri"/>
              </a:rPr>
              <a:t>589 l.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417200" y="3639600"/>
            <a:ext cx="340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Accueil : aperçu caméra, choix du matériel, homing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266000" y="3924000"/>
            <a:ext cx="3636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266000" y="3924000"/>
            <a:ext cx="72000" cy="450000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417200" y="3949200"/>
            <a:ext cx="25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8610"/>
                </a:solidFill>
                <a:latin typeface="Calibri"/>
              </a:rPr>
              <a:t>screen_plateau.py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110000" y="3960000"/>
            <a:ext cx="64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06060"/>
                </a:solidFill>
                <a:latin typeface="Calibri"/>
              </a:rPr>
              <a:t>619 l.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417200" y="4140000"/>
            <a:ext cx="340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Créer un plateau : photo et diagnostic des emplacements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266000" y="4424400"/>
            <a:ext cx="3636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266000" y="4424400"/>
            <a:ext cx="72000" cy="450000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417200" y="4449600"/>
            <a:ext cx="25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8610"/>
                </a:solidFill>
                <a:latin typeface="Calibri"/>
              </a:rPr>
              <a:t>screen_cordons.py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110000" y="4460400"/>
            <a:ext cx="64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06060"/>
                </a:solidFill>
                <a:latin typeface="Calibri"/>
              </a:rPr>
              <a:t>948 l.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417200" y="4640400"/>
            <a:ext cx="340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Tracé des cordons au doigt, report sur tous les emplacements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266000" y="4924800"/>
            <a:ext cx="3636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266000" y="4924800"/>
            <a:ext cx="72000" cy="450000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417200" y="4950000"/>
            <a:ext cx="25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8610"/>
                </a:solidFill>
                <a:latin typeface="Calibri"/>
              </a:rPr>
              <a:t>screen_execution.py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110000" y="4960800"/>
            <a:ext cx="64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06060"/>
                </a:solidFill>
                <a:latin typeface="Calibri"/>
              </a:rPr>
              <a:t>950 l.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417200" y="5140800"/>
            <a:ext cx="340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Cycle de dépose multi-zones, de bout en bout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266000" y="5425200"/>
            <a:ext cx="3636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266000" y="5425200"/>
            <a:ext cx="72000" cy="450000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417200" y="5450400"/>
            <a:ext cx="25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8610"/>
                </a:solidFill>
                <a:latin typeface="Calibri"/>
              </a:rPr>
              <a:t>screen_calibration.py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110000" y="5461200"/>
            <a:ext cx="64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06060"/>
                </a:solidFill>
                <a:latin typeface="Calibri"/>
              </a:rPr>
              <a:t>489 l.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417200" y="5641200"/>
            <a:ext cx="340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Calibration optique : capture des poses, calcul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100000" y="1188000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6060"/>
                </a:solidFill>
                <a:latin typeface="Calibri"/>
              </a:rPr>
              <a:t>CYCLE HISTORIQUE  ·  retrait planifié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100000" y="1422000"/>
            <a:ext cx="3636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100000" y="1422000"/>
            <a:ext cx="72000" cy="450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251200" y="1447200"/>
            <a:ext cx="25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06060"/>
                </a:solidFill>
                <a:latin typeface="Calibri"/>
              </a:rPr>
              <a:t>screen_zone.py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944000" y="1458000"/>
            <a:ext cx="64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06060"/>
                </a:solidFill>
                <a:latin typeface="Calibri"/>
              </a:rPr>
              <a:t>476 l.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251200" y="1638000"/>
            <a:ext cx="340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06060"/>
                </a:solidFill>
                <a:latin typeface="Calibri"/>
              </a:rPr>
              <a:t>Ancien cycle mono-zone — retrait planifié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100000" y="1922400"/>
            <a:ext cx="3636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100000" y="1922400"/>
            <a:ext cx="72000" cy="450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251200" y="1947600"/>
            <a:ext cx="25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06060"/>
                </a:solidFill>
                <a:latin typeface="Calibri"/>
              </a:rPr>
              <a:t>screen_run.py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944000" y="1958400"/>
            <a:ext cx="64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06060"/>
                </a:solidFill>
                <a:latin typeface="Calibri"/>
              </a:rPr>
              <a:t>320 l.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251200" y="2138400"/>
            <a:ext cx="340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06060"/>
                </a:solidFill>
                <a:latin typeface="Calibri"/>
              </a:rPr>
              <a:t>Ancienne exécution — retrait planifié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100000" y="2422800"/>
            <a:ext cx="3636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100000" y="2422800"/>
            <a:ext cx="72000" cy="450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251200" y="2448000"/>
            <a:ext cx="25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06060"/>
                </a:solidFill>
                <a:latin typeface="Calibri"/>
              </a:rPr>
              <a:t>screen_report.py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944000" y="2458800"/>
            <a:ext cx="64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06060"/>
                </a:solidFill>
                <a:latin typeface="Calibri"/>
              </a:rPr>
              <a:t>155 l.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251200" y="2638800"/>
            <a:ext cx="340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06060"/>
                </a:solidFill>
                <a:latin typeface="Calibri"/>
              </a:rPr>
              <a:t>Ancien rapport — retrait planifié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251200" y="3031200"/>
            <a:ext cx="3348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06060"/>
                </a:solidFill>
                <a:latin typeface="Calibri"/>
              </a:rPr>
              <a:t>Remplacé par le nouveau cycle multi-zones, mais conservé tant que celui-ci n'a pas été validé sur la machine : on ne retire pas ce qui fonctionne avant d'avoir prouvé son remplaçant.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32000" y="6083999"/>
            <a:ext cx="11160000" cy="540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432000" y="6083999"/>
            <a:ext cx="63500" cy="54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76000" y="6173999"/>
            <a:ext cx="1087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Un module par responsabilité : la vision ne pilote rien, la machine ne voit rien, et l'interface ne calcule rien.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7999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Bilan — ce qui fonctionne aujourd'hui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558000"/>
            <a:ext cx="100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DD5F0"/>
                </a:solidFill>
                <a:latin typeface="Calibri"/>
              </a:rPr>
              <a:t>Chaîne complète opérationnelle sur la machine de prototypage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7999"/>
            <a:ext cx="12188952" cy="25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2000" y="1296000"/>
            <a:ext cx="50800" cy="252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9000" y="1296000"/>
            <a:ext cx="5273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4472C4"/>
                </a:solidFill>
                <a:latin typeface="Calibri"/>
              </a:rPr>
              <a:t>VISION ET REPÉRAGE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Calibri"/>
              </a:rPr>
              <a:t>Détection ArUco des 4 coins du plateau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Calibri"/>
              </a:rPr>
              <a:t>Repère orthonormé, origine sur un marqueur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Calibri"/>
              </a:rPr>
              <a:t>Fonctionne avec 2 coins sur 4 seulement</a:t>
            </a:r>
          </a:p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606060"/>
                </a:solidFill>
                <a:latin typeface="Calibri"/>
              </a:rPr>
              <a:t>   → mode nominal, la caméra ne cadre pas tout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Calibri"/>
              </a:rPr>
              <a:t>Reconnaissance automatique des emplacements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Calibri"/>
              </a:rPr>
              <a:t>Diagnostic des défauts de montage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Calibri"/>
              </a:rPr>
              <a:t>Calibration optique ChArUco intégrée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999" y="1296000"/>
            <a:ext cx="50800" cy="2520000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90999" y="1296000"/>
            <a:ext cx="5273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78610"/>
                </a:solidFill>
                <a:latin typeface="Calibri"/>
              </a:rPr>
              <a:t>PRÉPARATION ET EXÉCUTION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Calibri"/>
              </a:rPr>
              <a:t>Tracé des cordons à l'écran tactile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Calibri"/>
              </a:rPr>
              <a:t>Un tracé rejoué sur tous les emplacements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Calibri"/>
              </a:rPr>
              <a:t>Enregistrement, rechargement, reprise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Calibri"/>
              </a:rPr>
              <a:t>Cycle de dépose complet, guidé, multi-zones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Calibri"/>
              </a:rPr>
              <a:t>Pilotage machine : homing, déplacements, arrêt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Calibri"/>
              </a:rPr>
              <a:t>Suivi temps réel, pause, arrêt d'urgence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Calibri"/>
              </a:rPr>
              <a:t>Photo de fin et rapport PDF de traçabilité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4031999"/>
            <a:ext cx="50800" cy="172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9000" y="4031999"/>
            <a:ext cx="11105000" cy="17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864"/>
                </a:solidFill>
                <a:latin typeface="Calibri"/>
              </a:rPr>
              <a:t>CE QUE L'OPÉRATEUR FAIT, CONCRÈTEMENT</a:t>
            </a:r>
          </a:p>
          <a:p>
            <a:pPr algn="l">
              <a:spcBef>
                <a:spcPts val="500"/>
              </a:spcBef>
            </a:pPr>
            <a:r>
              <a:rPr sz="1400" b="0" i="0">
                <a:solidFill>
                  <a:srgbClr val="1A1A1A"/>
                </a:solidFill>
                <a:latin typeface="Calibri"/>
              </a:rPr>
              <a:t>Un bouton → la machine se repère seule, il désigne les pièces présentes, confirme, et la dépose s'exécute sous ses yeux avec un rapport à la clé.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606060"/>
                </a:solidFill>
                <a:latin typeface="Calibri"/>
              </a:rPr>
              <a:t>Aucune ligne de code, aucun réglage de fichier : tout se fait au doigt sur l'écran 7 pouces.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6083999"/>
            <a:ext cx="11160000" cy="540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000" y="6083999"/>
            <a:ext cx="63500" cy="540000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00" y="6173999"/>
            <a:ext cx="1087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Le processus métier complet est couvert, du plateau nu au rapport signé.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7999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Bilan — le chiffrage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558000"/>
            <a:ext cx="100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DD5F0"/>
                </a:solidFill>
                <a:latin typeface="Calibri"/>
              </a:rPr>
              <a:t>Mesuré sur le dépôt, au 4 août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7999"/>
            <a:ext cx="12188952" cy="25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12000"/>
            <a:ext cx="2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F3864"/>
                </a:solidFill>
                <a:latin typeface="Calibri"/>
              </a:rPr>
              <a:t>9 971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2052000"/>
            <a:ext cx="2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6060"/>
                </a:solidFill>
                <a:latin typeface="Calibri"/>
              </a:rPr>
              <a:t>lignes de code applicatif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0" y="1512000"/>
            <a:ext cx="2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378610"/>
                </a:solidFill>
                <a:latin typeface="Calibri"/>
              </a:rPr>
              <a:t>5 754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0" y="2052000"/>
            <a:ext cx="2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6060"/>
                </a:solidFill>
                <a:latin typeface="Calibri"/>
              </a:rPr>
              <a:t>lignes de tests automatiques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0000" y="1512000"/>
            <a:ext cx="2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378610"/>
                </a:solidFill>
                <a:latin typeface="Calibri"/>
              </a:rPr>
              <a:t>300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20000" y="2052000"/>
            <a:ext cx="2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6060"/>
                </a:solidFill>
                <a:latin typeface="Calibri"/>
              </a:rPr>
              <a:t>tests, exécutés en 35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60000" y="1512000"/>
            <a:ext cx="2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F3864"/>
                </a:solidFill>
                <a:latin typeface="Calibri"/>
              </a:rPr>
              <a:t>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60000" y="2052000"/>
            <a:ext cx="2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6060"/>
                </a:solidFill>
                <a:latin typeface="Calibri"/>
              </a:rPr>
              <a:t>commits documentés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0000" y="1512000"/>
            <a:ext cx="2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F3864"/>
                </a:solidFill>
                <a:latin typeface="Calibri"/>
              </a:rP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0000" y="2052000"/>
            <a:ext cx="2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6060"/>
                </a:solidFill>
                <a:latin typeface="Calibri"/>
              </a:rPr>
              <a:t>versions livrées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3024000"/>
            <a:ext cx="50800" cy="2232000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9000" y="3024000"/>
            <a:ext cx="5273000" cy="22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78610"/>
                </a:solidFill>
                <a:latin typeface="Calibri"/>
              </a:rPr>
              <a:t>UN RAPPORT TESTS / CODE DE 0,58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Calibri"/>
              </a:rPr>
              <a:t>Plus d'une ligne de test pour deux lignes de code.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Calibri"/>
              </a:rPr>
              <a:t>Sur la dépose — la fonction critique — les tests sont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Calibri"/>
              </a:rPr>
              <a:t>validés par MUTATION : on casse volontairement le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Calibri"/>
              </a:rPr>
              <a:t>code pour vérifier qu'ils réagissent.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1F3864"/>
                </a:solidFill>
                <a:latin typeface="Calibri"/>
              </a:rPr>
              <a:t>→ 3 tests décoratifs démasqués alors que tout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1F3864"/>
                </a:solidFill>
                <a:latin typeface="Calibri"/>
              </a:rPr>
              <a:t>   était au vert.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999" y="3024000"/>
            <a:ext cx="50800" cy="2232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0999" y="3024000"/>
            <a:ext cx="5273000" cy="22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4472C4"/>
                </a:solidFill>
                <a:latin typeface="Calibri"/>
              </a:rPr>
              <a:t>UNE TRAÇABILITÉ COMPLÈTE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Calibri"/>
              </a:rPr>
              <a:t>Chaque décision technique est consignée avec son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Calibri"/>
              </a:rPr>
              <a:t>MOTIF — ce qui empêche de la « corriger » plus tard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Calibri"/>
              </a:rPr>
              <a:t>en croyant réparer un oubli.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Calibri"/>
              </a:rPr>
              <a:t>2 manuels (opérateur, maintenance), un dossier de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Calibri"/>
              </a:rPr>
              <a:t>conception, un journal de session.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1F3864"/>
                </a:solidFill>
                <a:latin typeface="Calibri"/>
              </a:rPr>
              <a:t>→ le projet est reprenable par un tiers.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000" y="6083999"/>
            <a:ext cx="11160000" cy="540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2000" y="6083999"/>
            <a:ext cx="63500" cy="54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00" y="6173999"/>
            <a:ext cx="1087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Trois mois de travail, une base de code testée et documentée — pas un prototype jetable.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7999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Bilan — ce qui reste à faire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558000"/>
            <a:ext cx="100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DD5F0"/>
                </a:solidFill>
                <a:latin typeface="Calibri"/>
              </a:rPr>
              <a:t>Vue honnête : trois chantiers, dont un seul est bloquant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7999"/>
            <a:ext cx="12188952" cy="25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2000" y="1296000"/>
            <a:ext cx="50800" cy="2736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9000" y="1296000"/>
            <a:ext cx="3473000" cy="27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C00000"/>
                </a:solidFill>
                <a:latin typeface="Calibri"/>
              </a:rPr>
              <a:t>1. VALIDER SUR MACHINE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Calibri"/>
              </a:rPr>
              <a:t>Le cycle multi-zones complet n'a encore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Calibri"/>
              </a:rPr>
              <a:t>jamais tourné sur la machine : il a été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Calibri"/>
              </a:rPr>
              <a:t>écrit et testé à la maison.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F3864"/>
                </a:solidFill>
                <a:latin typeface="Calibri"/>
              </a:rPr>
              <a:t>Coût : une demi-journée d'atelier.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606060"/>
                </a:solidFill>
                <a:latin typeface="Calibri"/>
              </a:rPr>
              <a:t>Sans risque : mode « à blanc », la buse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606060"/>
                </a:solidFill>
                <a:latin typeface="Calibri"/>
              </a:rPr>
              <a:t>ne descend pas et n'extrude rien.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0" y="1296000"/>
            <a:ext cx="50800" cy="2736000"/>
          </a:xfrm>
          <a:prstGeom prst="rect">
            <a:avLst/>
          </a:prstGeom>
          <a:solidFill>
            <a:srgbClr val="C55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47000" y="1296000"/>
            <a:ext cx="3473000" cy="27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C55010"/>
                </a:solidFill>
                <a:latin typeface="Calibri"/>
              </a:rPr>
              <a:t>2. RÉGLER L'EXTRUSION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Calibri"/>
              </a:rPr>
              <a:t>La pâte est très visqueuse : elle sort en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Calibri"/>
              </a:rPr>
              <a:t>retard au démarrage et continue après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Calibri"/>
              </a:rPr>
              <a:t>l'arrêt.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F3864"/>
                </a:solidFill>
                <a:latin typeface="Calibri"/>
              </a:rPr>
              <a:t>Les deux compensations sont CODÉES et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F3864"/>
                </a:solidFill>
                <a:latin typeface="Calibri"/>
              </a:rPr>
              <a:t>paramétrables ; il reste à les régler à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F3864"/>
                </a:solidFill>
                <a:latin typeface="Calibri"/>
              </a:rPr>
              <a:t>l'œil, avec la pâte réelle.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08000" y="1296000"/>
            <a:ext cx="50800" cy="2736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5000" y="1296000"/>
            <a:ext cx="3329000" cy="27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4472C4"/>
                </a:solidFill>
                <a:latin typeface="Calibri"/>
              </a:rPr>
              <a:t>3. FINITIONS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Calibri"/>
              </a:rPr>
              <a:t>Bascule du nouveau cycle en point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Calibri"/>
              </a:rPr>
              <a:t>d'entrée unique, après validation.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Calibri"/>
              </a:rPr>
              <a:t>Retrait de l'ancien cycle mono-zone.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606060"/>
                </a:solidFill>
                <a:latin typeface="Calibri"/>
              </a:rPr>
              <a:t>3 points de robustesse identifiés,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606060"/>
                </a:solidFill>
                <a:latin typeface="Calibri"/>
              </a:rPr>
              <a:t>audités, chiffrés.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606060"/>
                </a:solidFill>
                <a:latin typeface="Calibri"/>
              </a:rPr>
              <a:t>Calibration optique sur le matériel réel.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4248000"/>
            <a:ext cx="50800" cy="1584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9000" y="4248000"/>
            <a:ext cx="11105000" cy="15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864"/>
                </a:solidFill>
                <a:latin typeface="Calibri"/>
              </a:rPr>
              <a:t>POURQUOI CE N'EST PAS INQUIÉTANT</a:t>
            </a:r>
          </a:p>
          <a:p>
            <a:pPr algn="l">
              <a:spcBef>
                <a:spcPts val="500"/>
              </a:spcBef>
            </a:pPr>
            <a:r>
              <a:rPr sz="1400" b="0" i="0">
                <a:solidFill>
                  <a:srgbClr val="1A1A1A"/>
                </a:solidFill>
                <a:latin typeface="Calibri"/>
              </a:rPr>
              <a:t>Aucun de ces chantiers ne demande d'écrire une fonctionnalité nouvelle : ce sont des réglages, des mesures et des retraits.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Calibri"/>
              </a:rPr>
              <a:t>Les 11 mesures machine restantes sont NOMMÉES, NUMÉROTÉES et rappelées au début de chaque séance de travail — aucune ne peut se perdre.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6083999"/>
            <a:ext cx="11160000" cy="540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000" y="6083999"/>
            <a:ext cx="63500" cy="540000"/>
          </a:xfrm>
          <a:prstGeom prst="rect">
            <a:avLst/>
          </a:prstGeom>
          <a:solidFill>
            <a:srgbClr val="C55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00" y="6173999"/>
            <a:ext cx="1087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Ce qui reste tient en réglages et en mesures — plus en développement.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7999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Portage CNC — le prototype était la forge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558000"/>
            <a:ext cx="100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DD5F0"/>
                </a:solidFill>
                <a:latin typeface="Calibri"/>
              </a:rPr>
              <a:t>Tout ce qui a été construit sur la machine d'essai est réutilisable tel quel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7999"/>
            <a:ext cx="12188952" cy="25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2000" y="1296000"/>
            <a:ext cx="50800" cy="2951999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9000" y="1296000"/>
            <a:ext cx="5417000" cy="29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78610"/>
                </a:solidFill>
                <a:latin typeface="Calibri"/>
              </a:rPr>
              <a:t>IDENTIQUE SUR LES DEUX MACHINES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378610"/>
                </a:solidFill>
                <a:latin typeface="Calibri"/>
              </a:rPr>
              <a:t>Firmware Marlin — même dialecte G-code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378610"/>
                </a:solidFill>
                <a:latin typeface="Calibri"/>
              </a:rPr>
              <a:t>Caméra Philips SPC 1330NC — même modèle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378610"/>
                </a:solidFill>
                <a:latin typeface="Calibri"/>
              </a:rPr>
              <a:t>Raspberry Pi + écran tactile 7 pouces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378610"/>
                </a:solidFill>
                <a:latin typeface="Calibri"/>
              </a:rPr>
              <a:t>Marqueurs ArUco, même dictionnaire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378610"/>
                </a:solidFill>
                <a:latin typeface="Calibri"/>
              </a:rPr>
              <a:t>Toute la vision, toute l'interface, toute la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378610"/>
                </a:solidFill>
                <a:latin typeface="Calibri"/>
              </a:rPr>
              <a:t>logique de trajectoire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606060"/>
                </a:solidFill>
                <a:latin typeface="Calibri"/>
              </a:rPr>
              <a:t>Ce choix a été fait en juillet, volontairement :</a:t>
            </a:r>
          </a:p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606060"/>
                </a:solidFill>
                <a:latin typeface="Calibri"/>
              </a:rPr>
              <a:t>une seule base de code pour les deux machines.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8000" y="1296000"/>
            <a:ext cx="50800" cy="2951999"/>
          </a:xfrm>
          <a:prstGeom prst="rect">
            <a:avLst/>
          </a:prstGeom>
          <a:solidFill>
            <a:srgbClr val="C55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5000" y="1296000"/>
            <a:ext cx="5129000" cy="29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C55010"/>
                </a:solidFill>
                <a:latin typeface="Calibri"/>
              </a:rPr>
              <a:t>CE QUI DIFFÈRE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Calibri"/>
              </a:rPr>
              <a:t>La caméra est fixée sur la seringue au lieu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Calibri"/>
              </a:rPr>
              <a:t>du bâti.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C55010"/>
                </a:solidFill>
                <a:latin typeface="Calibri"/>
              </a:rPr>
              <a:t>Conséquence unique : la position depuis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C55010"/>
                </a:solidFill>
                <a:latin typeface="Calibri"/>
              </a:rPr>
              <a:t>laquelle on photographie devient une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C55010"/>
                </a:solidFill>
                <a:latin typeface="Calibri"/>
              </a:rPr>
              <a:t>inconnue à mesurer.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1F3864"/>
                </a:solidFill>
                <a:latin typeface="Calibri"/>
              </a:rPr>
              <a:t>Elle est DÉJÀ un paramètre du logiciel,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1F3864"/>
                </a:solidFill>
                <a:latin typeface="Calibri"/>
              </a:rPr>
              <a:t>prévu et écrit depuis le 3 août.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4464000"/>
            <a:ext cx="50800" cy="1296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9000" y="4464000"/>
            <a:ext cx="11105000" cy="12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864"/>
                </a:solidFill>
                <a:latin typeface="Calibri"/>
              </a:rPr>
              <a:t>LE POINT DE CONCEPTION QUI REND LE PORTAGE POSSIBLE</a:t>
            </a:r>
          </a:p>
          <a:p>
            <a:pPr algn="l">
              <a:spcBef>
                <a:spcPts val="500"/>
              </a:spcBef>
            </a:pPr>
            <a:r>
              <a:rPr sz="1400" b="0" i="0">
                <a:solidFill>
                  <a:srgbClr val="1A1A1A"/>
                </a:solidFill>
                <a:latin typeface="Calibri"/>
              </a:rPr>
              <a:t>Le repère du plateau est ancré sur les MARQUEURS, jamais sur la mécanique. La vision est donc indépendante du châssis, de la course et de la cinématique.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6083999"/>
            <a:ext cx="11160000" cy="540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000" y="6083999"/>
            <a:ext cx="63500" cy="540000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00" y="6173999"/>
            <a:ext cx="1087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La machine d'essai n'était pas une maquette : c'est la même machine, à la mécanique près.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7999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Portage CNC — l'effort, chiffré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558000"/>
            <a:ext cx="100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DD5F0"/>
                </a:solidFill>
                <a:latin typeface="Calibri"/>
              </a:rPr>
              <a:t>Combien de code faut-il réellement toucher 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7999"/>
            <a:ext cx="12188952" cy="25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440000"/>
            <a:ext cx="2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378610"/>
                </a:solidFill>
                <a:latin typeface="Calibri"/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1980000"/>
            <a:ext cx="2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6060"/>
                </a:solidFill>
                <a:latin typeface="Calibri"/>
              </a:rPr>
              <a:t>ligne de logique à réécrire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0" y="1440000"/>
            <a:ext cx="2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C55010"/>
                </a:solidFill>
                <a:latin typeface="Calibri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0" y="1980000"/>
            <a:ext cx="2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6060"/>
                </a:solidFill>
                <a:latin typeface="Calibri"/>
              </a:rPr>
              <a:t>valeurs numériques à ajuster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0" y="1440000"/>
            <a:ext cx="2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C55010"/>
                </a:solidFill>
                <a:latin typeface="Calibri"/>
              </a:rPr>
              <a:t>0,09 %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0" y="1980000"/>
            <a:ext cx="2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6060"/>
                </a:solidFill>
                <a:latin typeface="Calibri"/>
              </a:rPr>
              <a:t>du code applicatif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60000" y="1440000"/>
            <a:ext cx="2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378610"/>
                </a:solidFill>
                <a:latin typeface="Calibri"/>
              </a:rPr>
              <a:t>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60000" y="1980000"/>
            <a:ext cx="2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6060"/>
                </a:solidFill>
                <a:latin typeface="Calibri"/>
              </a:rPr>
              <a:t>réglages déjà hors du code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2951999"/>
            <a:ext cx="50800" cy="2880000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9000" y="2951999"/>
            <a:ext cx="5417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78610"/>
                </a:solidFill>
                <a:latin typeface="Calibri"/>
              </a:rPr>
              <a:t>UN SEUL FICHIER CONCERNÉ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Calibri"/>
              </a:rPr>
              <a:t>Toutes les grandeurs qui dépendent de la machine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Calibri"/>
              </a:rPr>
              <a:t>sont regroupées dans un fichier de configuration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Calibri"/>
              </a:rPr>
              <a:t>PROPRE À CHAQUE MACHINE, hors du code suivi.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606060"/>
                </a:solidFill>
                <a:latin typeface="Calibri"/>
              </a:rPr>
              <a:t>Port série, caméra, taille du plateau, origine,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606060"/>
                </a:solidFill>
                <a:latin typeface="Calibri"/>
              </a:rPr>
              <a:t>course des axes, position de prise de vue,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606060"/>
                </a:solidFill>
                <a:latin typeface="Calibri"/>
              </a:rPr>
              <a:t>vitesses, marges de sécurité.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1F3864"/>
                </a:solidFill>
                <a:latin typeface="Calibri"/>
              </a:rPr>
              <a:t>Aucune valeur machine n'est écrite en dur ailleurs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1F3864"/>
                </a:solidFill>
                <a:latin typeface="Calibri"/>
              </a:rPr>
              <a:t>dans le code — vérifié.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8000" y="2951999"/>
            <a:ext cx="50800" cy="2880000"/>
          </a:xfrm>
          <a:prstGeom prst="rect">
            <a:avLst/>
          </a:prstGeom>
          <a:solidFill>
            <a:srgbClr val="C55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5000" y="2951999"/>
            <a:ext cx="5129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C55010"/>
                </a:solidFill>
                <a:latin typeface="Calibri"/>
              </a:rPr>
              <a:t>LES 9 VALEURS À AJUSTER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Calibri"/>
              </a:rPr>
              <a:t>Position du plateau dans le repère machine (2)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Calibri"/>
              </a:rPr>
              <a:t>Hauteurs de dépose et de transit (3)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Calibri"/>
              </a:rPr>
              <a:t>Vitesses de déplacement et d'extrusion (3)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Calibri"/>
              </a:rPr>
              <a:t>Hauteur caméra (1)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F3864"/>
                </a:solidFill>
                <a:latin typeface="Calibri"/>
              </a:rPr>
              <a:t>Ce sont des MESURES, pas des décisions de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F3864"/>
                </a:solidFill>
                <a:latin typeface="Calibri"/>
              </a:rPr>
              <a:t>conception. Chacune se relève en quelques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F3864"/>
                </a:solidFill>
                <a:latin typeface="Calibri"/>
              </a:rPr>
              <a:t>minutes, machine sous tension.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6083999"/>
            <a:ext cx="11160000" cy="540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2000" y="6083999"/>
            <a:ext cx="63500" cy="540000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00" y="6173999"/>
            <a:ext cx="1087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Porter le logiciel sur la CNC, c'est remplir un fichier de mesures — pas réécrire un programme.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7999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Portage CNC — les manipulations restantes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558000"/>
            <a:ext cx="100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DD5F0"/>
                </a:solidFill>
                <a:latin typeface="Calibri"/>
              </a:rPr>
              <a:t>Une liste à cocher, pas une exploration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7999"/>
            <a:ext cx="12188952" cy="25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2000" y="1296000"/>
            <a:ext cx="50800" cy="2808000"/>
          </a:xfrm>
          <a:prstGeom prst="rect">
            <a:avLst/>
          </a:prstGeom>
          <a:solidFill>
            <a:srgbClr val="C55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9000" y="1296000"/>
            <a:ext cx="5417000" cy="2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C55010"/>
                </a:solidFill>
                <a:latin typeface="Calibri"/>
              </a:rPr>
              <a:t>MATÉRIEL — LE VRAI CHANTIER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1A1A1A"/>
                </a:solidFill>
                <a:latin typeface="Calibri"/>
              </a:rPr>
              <a:t>Finir le câblage capteurs et moteurs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1A1A1A"/>
                </a:solidFill>
                <a:latin typeface="Calibri"/>
              </a:rPr>
              <a:t>Première mise sous tension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1A1A1A"/>
                </a:solidFill>
                <a:latin typeface="Calibri"/>
              </a:rPr>
              <a:t>Réglage : sens moteurs, courants, pas/mm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C00000"/>
                </a:solidFill>
                <a:latin typeface="Calibri"/>
              </a:rPr>
              <a:t>C'est le seul poste dont la durée n'est pas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C00000"/>
                </a:solidFill>
                <a:latin typeface="Calibri"/>
              </a:rPr>
              <a:t>connue d'avance. Il ne dépend pas du logiciel.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378610"/>
                </a:solidFill>
                <a:latin typeface="Calibri"/>
              </a:rPr>
              <a:t>Mécanique et carte déjà assemblées,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378610"/>
                </a:solidFill>
                <a:latin typeface="Calibri"/>
              </a:rPr>
              <a:t>firmware déjà flashé.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8000" y="1296000"/>
            <a:ext cx="50800" cy="2808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5000" y="1296000"/>
            <a:ext cx="5129000" cy="2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4472C4"/>
                </a:solidFill>
                <a:latin typeface="Calibri"/>
              </a:rPr>
              <a:t>MESURES — 7 RELEVÉS, ~1 H AU TOTAL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1A1A1A"/>
                </a:solidFill>
                <a:latin typeface="Calibri"/>
              </a:rPr>
              <a:t>Taille du plateau (mètre)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1A1A1A"/>
                </a:solidFill>
                <a:latin typeface="Calibri"/>
              </a:rPr>
              <a:t>Origine du plateau (pointe au homing)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1A1A1A"/>
                </a:solidFill>
                <a:latin typeface="Calibri"/>
              </a:rPr>
              <a:t>Hauteur de la pointe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1A1A1A"/>
                </a:solidFill>
                <a:latin typeface="Calibri"/>
              </a:rPr>
              <a:t>Sens réel des axes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1A1A1A"/>
                </a:solidFill>
                <a:latin typeface="Calibri"/>
              </a:rPr>
              <a:t>Course utile des axes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1A1A1A"/>
                </a:solidFill>
                <a:latin typeface="Calibri"/>
              </a:rPr>
              <a:t>Position de prise de vue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1A1A1A"/>
                </a:solidFill>
                <a:latin typeface="Calibri"/>
              </a:rPr>
              <a:t>Calibration optique (15 poses)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1F3864"/>
                </a:solidFill>
                <a:latin typeface="Calibri"/>
              </a:rPr>
              <a:t>Toutes déjà faites une fois sur le prototype :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1F3864"/>
                </a:solidFill>
                <a:latin typeface="Calibri"/>
              </a:rPr>
              <a:t>le mode opératoire est écrit dans le manuel.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4320000"/>
            <a:ext cx="50800" cy="1512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9000" y="4320000"/>
            <a:ext cx="11105000" cy="15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864"/>
                </a:solidFill>
                <a:latin typeface="Calibri"/>
              </a:rPr>
              <a:t>L'ACQUIS LE PLUS PRÉCIEUX DU PROTOTYPE</a:t>
            </a:r>
          </a:p>
          <a:p>
            <a:pPr algn="l">
              <a:spcBef>
                <a:spcPts val="500"/>
              </a:spcBef>
            </a:pPr>
            <a:r>
              <a:rPr sz="1400" b="0" i="0">
                <a:solidFill>
                  <a:srgbClr val="1A1A1A"/>
                </a:solidFill>
                <a:latin typeface="Calibri"/>
              </a:rPr>
              <a:t>Sur la machine d'essai, chacune de ces grandeurs a coûté une séance de découverte : il a fallu comprendre qu'elle existait, qu'elle comptait, et comment la mesurer sans se tromper.</a:t>
            </a:r>
          </a:p>
          <a:p>
            <a:pPr algn="l">
              <a:spcBef>
                <a:spcPts val="500"/>
              </a:spcBef>
            </a:pPr>
            <a:r>
              <a:rPr sz="1400" b="0" i="0">
                <a:solidFill>
                  <a:srgbClr val="1F3864"/>
                </a:solidFill>
                <a:latin typeface="Calibri"/>
              </a:rPr>
              <a:t>Sur la CNC, ce n'est plus une exploration : c'est une liste à cocher, avec un mode opératoire éprouvé et les pièges déjà documentés.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6083999"/>
            <a:ext cx="11160000" cy="540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000" y="6083999"/>
            <a:ext cx="63500" cy="540000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00" y="6173999"/>
            <a:ext cx="1087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Le prototype a transformé des inconnues en procédure.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7999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Portage CNC — pourquoi fin août est tenable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558000"/>
            <a:ext cx="100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DD5F0"/>
                </a:solidFill>
                <a:latin typeface="Calibri"/>
              </a:rPr>
              <a:t>Le chemin critique est matériel, pas logiciel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7999"/>
            <a:ext cx="12188952" cy="25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2000" y="1296000"/>
            <a:ext cx="50800" cy="2664000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9000" y="1296000"/>
            <a:ext cx="5417000" cy="26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78610"/>
                </a:solidFill>
                <a:latin typeface="Calibri"/>
              </a:rPr>
              <a:t>CE QUI EST DÉJÀ DERRIÈRE NOUS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Calibri"/>
              </a:rPr>
              <a:t>Mécanique CNC assemblée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Calibri"/>
              </a:rPr>
              <a:t>Carte de commande installée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Calibri"/>
              </a:rPr>
              <a:t>Firmware Marlin flashé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Calibri"/>
              </a:rPr>
              <a:t>Logiciel complet, testé, documenté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Calibri"/>
              </a:rPr>
              <a:t>Procédures de mesure écrites et éprouvées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Calibri"/>
              </a:rPr>
              <a:t>Configuration par machine déjà prévue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400" b="0" i="0">
                <a:solidFill>
                  <a:srgbClr val="378610"/>
                </a:solidFill>
                <a:latin typeface="Calibri"/>
              </a:rPr>
              <a:t>Le logiciel n'attend plus que la machine.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8000" y="1296000"/>
            <a:ext cx="50800" cy="2664000"/>
          </a:xfrm>
          <a:prstGeom prst="rect">
            <a:avLst/>
          </a:prstGeom>
          <a:solidFill>
            <a:srgbClr val="C55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5000" y="1296000"/>
            <a:ext cx="5129000" cy="26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C55010"/>
                </a:solidFill>
                <a:latin typeface="Calibri"/>
              </a:rPr>
              <a:t>LE RISQUE, NOMMÉ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Calibri"/>
              </a:rPr>
              <a:t>Le seul poste à durée incertaine est la mise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Calibri"/>
              </a:rPr>
              <a:t>au point électromécanique de la CNC.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F3864"/>
                </a:solidFill>
                <a:latin typeface="Calibri"/>
              </a:rPr>
              <a:t>Atténuation : le prototype reste opérationnel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F3864"/>
                </a:solidFill>
                <a:latin typeface="Calibri"/>
              </a:rPr>
              <a:t>et permet de continuer à faire progresser le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F3864"/>
                </a:solidFill>
                <a:latin typeface="Calibri"/>
              </a:rPr>
              <a:t>logiciel en parallèle, sans dépendre de la CNC.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606060"/>
                </a:solidFill>
                <a:latin typeface="Calibri"/>
              </a:rPr>
              <a:t>Une démonstration sur le prototype est déjà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606060"/>
                </a:solidFill>
                <a:latin typeface="Calibri"/>
              </a:rPr>
              <a:t>acceptée pour la soutenance finale.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4176000"/>
            <a:ext cx="50800" cy="172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9000" y="4176000"/>
            <a:ext cx="11105000" cy="17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864"/>
                </a:solidFill>
                <a:latin typeface="Calibri"/>
              </a:rPr>
              <a:t>ENCHAÎNEMENT PROPOSÉ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Calibri"/>
              </a:rPr>
              <a:t>1.  Valider le cycle complet sur le prototype, à blanc  →  une demi-journée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Calibri"/>
              </a:rPr>
              <a:t>2.  Régler l'extrusion avec la pâte réelle  →  une à deux séances d'essais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Calibri"/>
              </a:rPr>
              <a:t>3.  Terminer le câblage CNC et la mise sous tension  →  poste à durée variable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Calibri"/>
              </a:rPr>
              <a:t>4.  Relever les 7 mesures et remplir le fichier de configuration  →  une heure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F3864"/>
                </a:solidFill>
                <a:latin typeface="Calibri"/>
              </a:rPr>
              <a:t>5.  Rejouer le même cycle sur la CNC  →  aucun développement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6083999"/>
            <a:ext cx="11160000" cy="540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000" y="6083999"/>
            <a:ext cx="63500" cy="540000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00" y="6173999"/>
            <a:ext cx="1087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Deux machines fonctionnelles ne demandent plus qu'un logiciel : elles demandent du câblage et sept mesures.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