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Machine de Dépose de Pâte Thermique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36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606060"/>
                </a:solidFill>
                <a:latin typeface="Calibri"/>
              </a:rPr>
              <a:t>Automatisation de la dépose sur coques de calculateur automobile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908000"/>
            <a:ext cx="3600000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2124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Cadre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0000" y="2124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Projet de stage — BUT Informatique 3ème année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466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Période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0000" y="2466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Mai → Août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280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Jalons 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80000" y="2808000"/>
            <a:ext cx="9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Soutenance blanche fin juillet · Soutenance finale fin août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Pourquoi automatiser la dépose de pâte thermique 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2 /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00" y="1224000"/>
            <a:ext cx="54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Contexte industriel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00" y="1475999"/>
            <a:ext cx="540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 Les coques de calculateur automobile intègrent des composants électroniques générant de la chaleur.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 La pâte thermique assure le transfert de chaleur entre le composant et le dissipateur.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 Actuellement, la dépose est manuelle : résultat variable, non reproductible.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→  Objectif : automatiser et tracer la dépose pour garantir la qualité et la traçabilité.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32000" y="1152000"/>
            <a:ext cx="19050" cy="3420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48000" y="1224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3864"/>
                </a:solidFill>
                <a:latin typeface="Calibri"/>
              </a:rPr>
              <a:t>La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00" y="1475999"/>
            <a:ext cx="576000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Caméra RPi (CSI) : </a:t>
            </a:r>
            <a:r>
              <a:rPr sz="1300">
                <a:solidFill>
                  <a:srgbClr val="1A1A1A"/>
                </a:solidFill>
                <a:latin typeface="Calibri"/>
              </a:rPr>
              <a:t>Capture une photo de la coque avant la dépose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Vision ArUco : </a:t>
            </a:r>
            <a:r>
              <a:rPr sz="1300">
                <a:solidFill>
                  <a:srgbClr val="1A1A1A"/>
                </a:solidFill>
                <a:latin typeface="Calibri"/>
              </a:rPr>
              <a:t>Détecte 4 marqueurs pour calibrer la perspective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Sélection zone : </a:t>
            </a:r>
            <a:r>
              <a:rPr sz="1300">
                <a:solidFill>
                  <a:srgbClr val="1A1A1A"/>
                </a:solidFill>
                <a:latin typeface="Calibri"/>
              </a:rPr>
              <a:t>L'opérateur dessine la zone à traiter sur l'écran tactile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Planification : </a:t>
            </a:r>
            <a:r>
              <a:rPr sz="1300">
                <a:solidFill>
                  <a:srgbClr val="1A1A1A"/>
                </a:solidFill>
                <a:latin typeface="Calibri"/>
              </a:rPr>
              <a:t>Calcul automatique de la trajectoire de dépose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Machine CNC : </a:t>
            </a:r>
            <a:r>
              <a:rPr sz="1300">
                <a:solidFill>
                  <a:srgbClr val="1A1A1A"/>
                </a:solidFill>
                <a:latin typeface="Calibri"/>
              </a:rPr>
              <a:t>Dépose la pâte selon la trajectoire calculée en G-code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4472C4"/>
                </a:solidFill>
                <a:latin typeface="Calibri"/>
              </a:rPr>
              <a:t>Rapport PDF : </a:t>
            </a:r>
            <a:r>
              <a:rPr sz="1300">
                <a:solidFill>
                  <a:srgbClr val="1A1A1A"/>
                </a:solidFill>
                <a:latin typeface="Calibri"/>
              </a:rPr>
              <a:t>Photo avant/après + paramètres, horodaté et archivé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Processus de dépose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Cycle complet — du déclenchement au rapport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3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Photo
de la pièce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Caméra RPi capture
la coque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98000" y="1692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6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Sélection
de la zone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6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3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L'opérateur dessine
la zone sur l'écran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8000" y="1692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4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4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4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4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Calcul
trajectoire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4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PathPlanner génère
le parcours G-code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58000" y="1692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Dépose
automatique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9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La machine suit
la trajectoire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8000" y="1692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0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0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0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Photo
après dépose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7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Vérification visuelle
du résultat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18000" y="1692000"/>
            <a:ext cx="32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3864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80000" y="1224000"/>
            <a:ext cx="1800000" cy="360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80000" y="122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80000" y="1584000"/>
            <a:ext cx="1800000" cy="503999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80000" y="1584000"/>
            <a:ext cx="18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Rapport
PDF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080000" y="2088000"/>
            <a:ext cx="1800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52000" y="2124000"/>
            <a:ext cx="1656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06060"/>
                </a:solidFill>
                <a:latin typeface="Calibri"/>
              </a:rPr>
              <a:t>Archivage horodaté
avant/après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00" y="3024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Ce cycle peut être relancé immédiatement pour une nouvelle pièce, sans redémarrer l'application.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Architecture matérielle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Raspberry Pi 3B+ + machine CNC (firmware Marlin)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4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52000"/>
            <a:ext cx="5040000" cy="2808000"/>
          </a:xfrm>
          <a:prstGeom prst="rect">
            <a:avLst/>
          </a:prstGeom>
          <a:noFill/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152000"/>
            <a:ext cx="48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Raspberry Pi 3B+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1475999"/>
            <a:ext cx="468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Logiciel Python (modules + GUI)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Caméra CSI — module RPi (nappe 15 br.)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Écran tactile 7" 800×480 (HDMI + USB touch)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Traitement ArUco (OpenCV)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Interface utilisateur (PyQt5)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72000" y="2088000"/>
            <a:ext cx="1224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USB série
G-code Marlin
115 200 baud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2520000"/>
            <a:ext cx="1007999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472C4"/>
                </a:solidFill>
                <a:latin typeface="Calibri"/>
              </a:rPr>
              <a:t>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12000" y="1152000"/>
            <a:ext cx="4968000" cy="2808000"/>
          </a:xfrm>
          <a:prstGeom prst="rect">
            <a:avLst/>
          </a:prstGeom>
          <a:noFill/>
          <a:ln w="25400">
            <a:solidFill>
              <a:srgbClr val="C5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0000" y="1152000"/>
            <a:ext cx="4788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5010"/>
                </a:solidFill>
                <a:latin typeface="Calibri"/>
              </a:rPr>
              <a:t>Machine CNC (firmware Marlin)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8000" y="1475999"/>
            <a:ext cx="4608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Carte contrôleur — protocole G-code standard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Axes X / Y — déplacement de la buse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Axe Z — hauteur de la buse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Axe E → piston Nema 17 — dépose pâte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Fins de course — homing automatique</a:t>
            </a:r>
          </a:p>
          <a:p>
            <a:pPr>
              <a:spcBef>
                <a:spcPts val="5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•  Port série : /dev/ttyUSB0 ou /dev/ttyACM0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4068000"/>
            <a:ext cx="11592000" cy="32400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00" y="4068000"/>
            <a:ext cx="113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Référentiel géométrique : 4 marqueurs ArUco (DICT_4X4_50, IDs 0–3) — calibrage de perspective par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Stratégie matérielle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Deux machines, un seul logiciel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5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52000"/>
            <a:ext cx="5580000" cy="3096000"/>
          </a:xfrm>
          <a:prstGeom prst="rect">
            <a:avLst/>
          </a:prstGeom>
          <a:noFill/>
          <a:ln w="254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152000"/>
            <a:ext cx="558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152000"/>
            <a:ext cx="54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Machine PoC — Geeetech I3 (imprimante 3D modifiée)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" y="1584000"/>
            <a:ext cx="5328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Rôle : </a:t>
            </a:r>
            <a:r>
              <a:rPr sz="1200">
                <a:solidFill>
                  <a:srgbClr val="1A1A1A"/>
                </a:solidFill>
                <a:latin typeface="Calibri"/>
              </a:rPr>
              <a:t>Développement et validation du logiciel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Disponibilité : </a:t>
            </a:r>
            <a:r>
              <a:rPr sz="1200">
                <a:solidFill>
                  <a:srgbClr val="1A1A1A"/>
                </a:solidFill>
                <a:latin typeface="Calibri"/>
              </a:rPr>
              <a:t>Immédiatement — déjà en place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Firmware : </a:t>
            </a:r>
            <a:r>
              <a:rPr sz="1200">
                <a:solidFill>
                  <a:srgbClr val="1A1A1A"/>
                </a:solidFill>
                <a:latin typeface="Calibri"/>
              </a:rPr>
              <a:t>Marlin (version à identifier via M115)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Axes : </a:t>
            </a:r>
            <a:r>
              <a:rPr sz="1200">
                <a:solidFill>
                  <a:srgbClr val="1A1A1A"/>
                </a:solidFill>
                <a:latin typeface="Calibri"/>
              </a:rPr>
              <a:t>X/Y/Z + axe E (extrudeur → piston)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Contrôleur : </a:t>
            </a:r>
            <a:r>
              <a:rPr sz="1200">
                <a:solidFill>
                  <a:srgbClr val="1A1A1A"/>
                </a:solidFill>
                <a:latin typeface="Calibri"/>
              </a:rPr>
              <a:t>Carte Geeetech d'origine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Avantage : </a:t>
            </a:r>
            <a:r>
              <a:rPr sz="1200">
                <a:solidFill>
                  <a:srgbClr val="1A1A1A"/>
                </a:solidFill>
                <a:latin typeface="Calibri"/>
              </a:rPr>
              <a:t>Accès immédiat, peut fonctionner en mode test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4472C4"/>
                </a:solidFill>
                <a:latin typeface="Calibri"/>
              </a:rPr>
              <a:t>Limite : </a:t>
            </a:r>
            <a:r>
              <a:rPr sz="1200">
                <a:solidFill>
                  <a:srgbClr val="1A1A1A"/>
                </a:solidFill>
                <a:latin typeface="Calibri"/>
              </a:rPr>
              <a:t>Pas la machine finale — sert uniquement de banc de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2232000"/>
            <a:ext cx="7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  <a:latin typeface="Calibri"/>
              </a:rPr>
              <a:t>Portage
logiciel
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8000" y="2951999"/>
            <a:ext cx="9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60"/>
                </a:solidFill>
                <a:latin typeface="Calibri"/>
              </a:rPr>
              <a:t>config.py
uniquement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40000" y="1152000"/>
            <a:ext cx="5040000" cy="3096000"/>
          </a:xfrm>
          <a:prstGeom prst="rect">
            <a:avLst/>
          </a:prstGeom>
          <a:noFill/>
          <a:ln w="25400">
            <a:solidFill>
              <a:srgbClr val="C55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40000" y="1152000"/>
            <a:ext cx="5040000" cy="360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000" y="1152000"/>
            <a:ext cx="489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Machine cible — CNC (carte Marlin)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3999" y="1584000"/>
            <a:ext cx="4752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Rôle : </a:t>
            </a:r>
            <a:r>
              <a:rPr sz="1200">
                <a:solidFill>
                  <a:srgbClr val="1A1A1A"/>
                </a:solidFill>
                <a:latin typeface="Calibri"/>
              </a:rPr>
              <a:t>Machine de production finale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Disponibilité : </a:t>
            </a:r>
            <a:r>
              <a:rPr sz="1200">
                <a:solidFill>
                  <a:srgbClr val="1A1A1A"/>
                </a:solidFill>
                <a:latin typeface="Calibri"/>
              </a:rPr>
              <a:t>Assemblage prévu en juillet 2026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Firmware : </a:t>
            </a:r>
            <a:r>
              <a:rPr sz="1200">
                <a:solidFill>
                  <a:srgbClr val="1A1A1A"/>
                </a:solidFill>
                <a:latin typeface="Calibri"/>
              </a:rPr>
              <a:t>Marlin (même protocole G-code)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Axes : </a:t>
            </a:r>
            <a:r>
              <a:rPr sz="1200">
                <a:solidFill>
                  <a:srgbClr val="1A1A1A"/>
                </a:solidFill>
                <a:latin typeface="Calibri"/>
              </a:rPr>
              <a:t>X/Y/Z + actionneur de dépose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Contrôleur : </a:t>
            </a:r>
            <a:r>
              <a:rPr sz="1200">
                <a:solidFill>
                  <a:srgbClr val="1A1A1A"/>
                </a:solidFill>
                <a:latin typeface="Calibri"/>
              </a:rPr>
              <a:t>Carte CNC dédiée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Avantage : </a:t>
            </a:r>
            <a:r>
              <a:rPr sz="1200">
                <a:solidFill>
                  <a:srgbClr val="1A1A1A"/>
                </a:solidFill>
                <a:latin typeface="Calibri"/>
              </a:rPr>
              <a:t>Conçue pour la tâche, plus précise et robuste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C55010"/>
                </a:solidFill>
                <a:latin typeface="Calibri"/>
              </a:rPr>
              <a:t>RPi + caméra : </a:t>
            </a:r>
            <a:r>
              <a:rPr sz="1200">
                <a:solidFill>
                  <a:srgbClr val="1A1A1A"/>
                </a:solidFill>
                <a:latin typeface="Calibri"/>
              </a:rPr>
              <a:t>Identiques — transférés depuis la Geeetech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" y="4356000"/>
            <a:ext cx="11592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06060"/>
                </a:solidFill>
                <a:latin typeface="Calibri"/>
              </a:rPr>
              <a:t>Le logiciel est identique sur les deux machines — seuls le port série et les dimensions de la zone de travail changent dans config.py.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Architecture logicielle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7 modules Python + interface PyQt5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6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224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" y="1224000"/>
            <a:ext cx="125999" cy="75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" y="1278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config.py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000" y="1512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Paramètres globaux (ports, résolutions, constantes)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00" y="2088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00" y="2088000"/>
            <a:ext cx="125999" cy="75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6000" y="2142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camera.py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000" y="2376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Capture image via caméra RPi (interface CSI/V4L2)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2952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8000" y="2952000"/>
            <a:ext cx="125999" cy="75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000" y="3006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vision.py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000" y="3240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Détection ArUco, calcul homographie, redressement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3816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8000" y="3816000"/>
            <a:ext cx="125999" cy="75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000" y="3870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machine.py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000" y="4104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Communication G-code Marlin via USB série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2000" y="1224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2000" y="1224000"/>
            <a:ext cx="125999" cy="75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0000" y="1278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path_planner.py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0000" y="1512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Calcul trajectoires de dépose (hachures, spirale…)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2000" y="2088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92000" y="2088000"/>
            <a:ext cx="125999" cy="756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90000" y="2142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reporter.py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90000" y="2376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Génération rapport PDF horodaté (fpdf2)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2000" y="2952000"/>
            <a:ext cx="5688000" cy="756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2000" y="2952000"/>
            <a:ext cx="125999" cy="75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0000" y="3006000"/>
            <a:ext cx="5436001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main.py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0000" y="3240000"/>
            <a:ext cx="54360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Machine à états : IDLE→CAPTURE→CONFIGURE→RUNNING→DONE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00" y="4896000"/>
            <a:ext cx="2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3864"/>
                </a:solidFill>
                <a:latin typeface="Calibri"/>
              </a:rPr>
              <a:t>Interface graphique (gui/)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00" y="5112000"/>
            <a:ext cx="115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06060"/>
                </a:solidFill>
                <a:latin typeface="Calibri"/>
              </a:rPr>
              <a:t>4 écrans PyQt5 · 800×480 · plein écran · tactile  →  Capture · Zone/Quantité · Exécution · Rapport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Planning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3 parties · 3 jalons · mai → août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7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16000" y="1116000"/>
            <a:ext cx="3780000" cy="360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" y="1116000"/>
            <a:ext cx="36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Partie A — Logiciel sur Geeetech (PoC)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" y="1494000"/>
            <a:ext cx="37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27 mai → ~12 juillet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1710000"/>
            <a:ext cx="37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0  Identification matériel             1 session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1  Caméra de base                     1 session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2  ArUco &amp; calibrage                  3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3  Communication G-code Marlin         2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4  Interface graphique                 3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5  Sélection zone &amp; trajectoire        3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6  Intégration workflow complet        3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7  Rapport PDF                         2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8  Tests &amp; finitions (Geeetech)        3 sessions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4500000"/>
            <a:ext cx="37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Vacances 15–19 juin · Draft rapport dû le 15 juin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000" y="4824000"/>
            <a:ext cx="3780000" cy="27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00" y="4824000"/>
            <a:ext cx="36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700"/>
                </a:solidFill>
                <a:latin typeface="Calibri"/>
              </a:rPr>
              <a:t>★  Jalon A : Logiciel validé sur Geeetech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58000" y="1116000"/>
            <a:ext cx="3780000" cy="360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0000" y="1116000"/>
            <a:ext cx="36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Partie B — Intégration sur CNC cible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8000" y="1494000"/>
            <a:ext cx="37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~13 juillet → fin juillet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8000" y="1710000"/>
            <a:ext cx="37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9   Assemblage CNC (hardware)          ~2 semaines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10  Portage logiciel (config.py)       2 sessions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11  Validation complète sur CNC        3 sessions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58000" y="4500000"/>
            <a:ext cx="37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RPi, caméra et écran réutilisés sans modification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58000" y="4824000"/>
            <a:ext cx="3780000" cy="27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0000" y="4824000"/>
            <a:ext cx="36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700"/>
                </a:solidFill>
                <a:latin typeface="Calibri"/>
              </a:rPr>
              <a:t>★  Jalon B : Soutenance blanche — fin juillet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0" y="1116000"/>
            <a:ext cx="3780000" cy="36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2000" y="1116000"/>
            <a:ext cx="36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Partie C — Finalisation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0000" y="1494000"/>
            <a:ext cx="378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Août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00000" y="1710000"/>
            <a:ext cx="3780000" cy="2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12  Corrections bugs (retours S. blanche)  ~1 semaine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1A1A1A"/>
                </a:solidFill>
                <a:latin typeface="Calibri"/>
              </a:rPr>
              <a:t>•  Ph. 13  Finalisation rapport                   ~3 semaines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00000" y="4500000"/>
            <a:ext cx="37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06060"/>
                </a:solidFill>
                <a:latin typeface="Calibri"/>
              </a:rPr>
              <a:t>Rédaction rapport en parallèle depuis mai (~1h/soir)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0000" y="4824000"/>
            <a:ext cx="3780000" cy="27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72000" y="4824000"/>
            <a:ext cx="3672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700"/>
                </a:solidFill>
                <a:latin typeface="Calibri"/>
              </a:rPr>
              <a:t>★  Jalon C : Soutenance finale — fin août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Jalons clés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4 dates structurantes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8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0000" y="1188000"/>
            <a:ext cx="720000" cy="972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000" y="1188000"/>
            <a:ext cx="7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1188000"/>
            <a:ext cx="10620000" cy="972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7999" y="1224000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Premier draft du rapport  —  15 juin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999" y="1494000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Critère : Document complet (même incomplet sur certains points) remis avant les vacances.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7999" y="1764000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00000"/>
                </a:solidFill>
                <a:latin typeface="Calibri"/>
              </a:rPr>
              <a:t>⚠️ Tombe la même semaine que la Phase 4 (GUI) — gérer le temps semaine du 8 au 14 juin.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285999"/>
            <a:ext cx="720000" cy="972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000" y="2285999"/>
            <a:ext cx="7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2285999"/>
            <a:ext cx="10620000" cy="972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7999" y="2321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Logiciel validé sur Geeetech  —  ~12 juillet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7999" y="2591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Critère : Cycle complet (photo → sélection → dépose → PDF) fonctionnel sur la Geeetech.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7999" y="2861999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72C4"/>
                </a:solidFill>
                <a:latin typeface="Calibri"/>
              </a:rPr>
              <a:t>Suite : transfert du Raspberry Pi et de la caméra vers la CNC cible.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3383998"/>
            <a:ext cx="720000" cy="972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000" y="3383998"/>
            <a:ext cx="7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80000" y="3383998"/>
            <a:ext cx="10620000" cy="972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7999" y="3419998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Soutenance blanche  —  Fin juillet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7999" y="3689998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Critère : Démo live sur CNC cible. Rapport en version avancée.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7999" y="3959998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55010"/>
                </a:solidFill>
                <a:latin typeface="Calibri"/>
              </a:rPr>
              <a:t>Retours à intégrer en août (corrections Phase 12).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0000" y="4481997"/>
            <a:ext cx="720000" cy="972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0000" y="4481997"/>
            <a:ext cx="72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J3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80000" y="4481997"/>
            <a:ext cx="10620000" cy="972000"/>
          </a:xfrm>
          <a:prstGeom prst="rect">
            <a:avLst/>
          </a:prstGeom>
          <a:noFill/>
          <a:ln w="12700">
            <a:solidFill>
              <a:srgbClr val="E8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7999" y="4517997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Soutenance finale  —  Fin août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7999" y="4787997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Critère : Rapport remis. Présentation et démonstration devant le jury.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7999" y="5057997"/>
            <a:ext cx="1044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378610"/>
                </a:solidFill>
                <a:latin typeface="Calibri"/>
              </a:rPr>
              <a:t>Fin du projet.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7999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Synthèse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558000"/>
            <a:ext cx="100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DD5F0"/>
                </a:solidFill>
                <a:latin typeface="Calibri"/>
              </a:rPr>
              <a:t>Ce qu'il faut retenir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7999"/>
            <a:ext cx="12188952" cy="254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0000" y="6768000"/>
            <a:ext cx="90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Calibri"/>
              </a:rPr>
              <a:t>Machine de Dépose de Pâte Thermique — Projet stage BUT3 Informatique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40000" y="6768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6060"/>
                </a:solidFill>
                <a:latin typeface="Calibri"/>
              </a:rPr>
              <a:t>9 / 9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00" y="1188000"/>
            <a:ext cx="144000" cy="64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0000" y="1188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458000"/>
            <a:ext cx="112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Automatiser la dépose de pâte thermique sur coques de calculateur automobile avec vision par ordinateur (ArUco), machine CNC (Marlin) et interface tactile (PyQt5).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00" y="1980000"/>
            <a:ext cx="144000" cy="648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0000" y="1980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Calibri"/>
              </a:rPr>
              <a:t>Approche en deux machines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250000"/>
            <a:ext cx="112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La Geeetech I3 (PoC) sert à développer et valider le logiciel. La CNC cible est la machine de production finale. Le portage est minimal : seul config.py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2772000"/>
            <a:ext cx="144000" cy="648000"/>
          </a:xfrm>
          <a:prstGeom prst="rect">
            <a:avLst/>
          </a:prstGeom>
          <a:solidFill>
            <a:srgbClr val="C55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0000" y="2772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55010"/>
                </a:solidFill>
                <a:latin typeface="Calibri"/>
              </a:rPr>
              <a:t>Planning resserré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042000"/>
            <a:ext cx="112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Développement logiciel de fin mai à mi-juillet. Assemblage CNC + validation : juillet. Rapport + soutenance : août.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8000" y="3564000"/>
            <a:ext cx="144000" cy="648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3564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0000"/>
                </a:solidFill>
                <a:latin typeface="Calibri"/>
              </a:rPr>
              <a:t>Point d'attention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834000"/>
            <a:ext cx="112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Semaine du 8–14 juin : Phase 4 (GUI) ET deadline draft rapport (15 juin) en même temps. Anticiper la rédaction du rapport dès la semaine du 1er juin.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00" y="4356000"/>
            <a:ext cx="144000" cy="648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4356000"/>
            <a:ext cx="1980000" cy="2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8610"/>
                </a:solidFill>
                <a:latin typeface="Calibri"/>
              </a:rPr>
              <a:t>Clé de réussite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4626000"/>
            <a:ext cx="11232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Maintenir CONCEPTION.md à jour après chaque session : il constitue le brouillon permanent du rapport de soutenance.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